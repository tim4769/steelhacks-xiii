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Play"/>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iC3fC0x+7mykiE4bYET4Ic4iw6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bold.fntdata"/><Relationship Id="rId23"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bafe2fdd6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bafe2fd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afe2fdd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afe2f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Themis uses AI to flag potential rights violations during police interrogations and deliver spoken alerts, helping people recognize biased interrogation and threats and intervene before harm escalates.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bafe2fdd6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bafe2fdd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afe2fdd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fbafe2fdd6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bafe2fdd6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bafe2fdd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Reasons police departments would want ti implement this tool is because it gives them higher credibility, providing an objective reminder during questioning to prevent over biased questions and decisions, and it makes managing </a:t>
            </a:r>
            <a:r>
              <a:rPr b="1" lang="en-US">
                <a:solidFill>
                  <a:schemeClr val="dk1"/>
                </a:solidFill>
              </a:rPr>
              <a:t>interrogations</a:t>
            </a:r>
            <a:r>
              <a:rPr b="1" lang="en-US">
                <a:solidFill>
                  <a:schemeClr val="dk1"/>
                </a:solidFill>
              </a:rPr>
              <a:t> more convenient because of our archives tool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How does our project fit in the track?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Why does speech beat text in this </a:t>
            </a:r>
            <a:r>
              <a:rPr lang="en-US"/>
              <a:t>scenario?</a:t>
            </a:r>
            <a:endParaRPr/>
          </a:p>
          <a:p>
            <a:pPr indent="0" lvl="0" marL="0" rtl="0" algn="l">
              <a:spcBef>
                <a:spcPts val="0"/>
              </a:spcBef>
              <a:spcAft>
                <a:spcPts val="0"/>
              </a:spcAft>
              <a:buNone/>
            </a:pPr>
            <a:r>
              <a:rPr lang="en-US"/>
              <a:t>Speech beats text in this scenario as it does a better job alerting the person of interest when a concern </a:t>
            </a:r>
            <a:r>
              <a:rPr lang="en-US"/>
              <a:t>arises</a:t>
            </a:r>
            <a:r>
              <a:rPr lang="en-US"/>
              <a:t> during interrogation.</a:t>
            </a:r>
            <a:endParaRPr/>
          </a:p>
          <a:p>
            <a:pPr indent="0" lvl="0" marL="0" rtl="0" algn="l">
              <a:spcBef>
                <a:spcPts val="0"/>
              </a:spcBef>
              <a:spcAft>
                <a:spcPts val="0"/>
              </a:spcAft>
              <a:buNone/>
            </a:pPr>
            <a:r>
              <a:t/>
            </a:r>
            <a:endParaRPr/>
          </a:p>
        </p:txBody>
      </p:sp>
      <p:sp>
        <p:nvSpPr>
          <p:cNvPr id="174" name="Google Shape;1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talk about how we are using nemotron different from a chatbot</a:t>
            </a:r>
            <a:endParaRPr/>
          </a:p>
          <a:p>
            <a:pPr indent="-298450" lvl="0" marL="457200" rtl="0" algn="l">
              <a:spcBef>
                <a:spcPts val="0"/>
              </a:spcBef>
              <a:spcAft>
                <a:spcPts val="0"/>
              </a:spcAft>
              <a:buSzPts val="1100"/>
              <a:buChar char="-"/>
            </a:pPr>
            <a:r>
              <a:rPr lang="en-US"/>
              <a:t>What does nemotron do in our project?</a:t>
            </a:r>
            <a:endParaRPr/>
          </a:p>
          <a:p>
            <a:pPr indent="-298450" lvl="0" marL="457200" rtl="0" algn="l">
              <a:spcBef>
                <a:spcPts val="0"/>
              </a:spcBef>
              <a:spcAft>
                <a:spcPts val="0"/>
              </a:spcAft>
              <a:buSzPts val="1100"/>
              <a:buChar char="-"/>
            </a:pPr>
            <a:r>
              <a:rPr lang="en-US"/>
              <a:t>Some evidence that it works: an eval, comparison, benchmark, or even a failure you found.</a:t>
            </a:r>
            <a:endParaRPr/>
          </a:p>
        </p:txBody>
      </p:sp>
      <p:sp>
        <p:nvSpPr>
          <p:cNvPr id="182" name="Google Shape;18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bafe2fdd6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bafe2fdd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bb43b2cfb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bb43b2cf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As beginners, we also learned about vibe coding and using GitHub to collaborate and manage changes.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bafe2fdd6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bafe2fdd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bafe2fdd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fbafe2fdd6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5183188" y="987425"/>
            <a:ext cx="6172200" cy="4873625"/>
          </a:xfrm>
          <a:prstGeom prst="rect">
            <a:avLst/>
          </a:prstGeom>
          <a:noFill/>
          <a:ln>
            <a:noFill/>
          </a:ln>
        </p:spPr>
      </p:sp>
      <p:sp>
        <p:nvSpPr>
          <p:cNvPr id="64" name="Google Shape;6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612422" y="501473"/>
            <a:ext cx="11150599" cy="585505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9600"/>
              <a:buFont typeface="Play"/>
              <a:buNone/>
            </a:pPr>
            <a:r>
              <a:rPr lang="en-US" sz="9600">
                <a:latin typeface="Impact"/>
                <a:ea typeface="Impact"/>
                <a:cs typeface="Impact"/>
                <a:sym typeface="Impact"/>
              </a:rPr>
              <a:t>A True Story</a:t>
            </a:r>
            <a:endParaRPr sz="4800">
              <a:latin typeface="Impact"/>
              <a:ea typeface="Impact"/>
              <a:cs typeface="Impact"/>
              <a:sym typeface="Impac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2"/>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90" name="Google Shape;90;p2"/>
          <p:cNvPicPr preferRelativeResize="0"/>
          <p:nvPr/>
        </p:nvPicPr>
        <p:blipFill rotWithShape="1">
          <a:blip r:embed="rId3">
            <a:alphaModFix/>
          </a:blip>
          <a:srcRect b="19" l="0" r="0" t="0"/>
          <a:stretch/>
        </p:blipFill>
        <p:spPr>
          <a:xfrm>
            <a:off x="7" y="644"/>
            <a:ext cx="12191982" cy="68567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3"/>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96" name="Google Shape;96;p3" title="ChatGPT Image Sep 19, 2026, 07_47_59 PM.png"/>
          <p:cNvPicPr preferRelativeResize="0"/>
          <p:nvPr/>
        </p:nvPicPr>
        <p:blipFill>
          <a:blip r:embed="rId3">
            <a:alphaModFix/>
          </a:blip>
          <a:stretch>
            <a:fillRect/>
          </a:stretch>
        </p:blipFill>
        <p:spPr>
          <a:xfrm>
            <a:off x="-59250" y="0"/>
            <a:ext cx="12544999" cy="7060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
          <p:cNvSpPr/>
          <p:nvPr/>
        </p:nvSpPr>
        <p:spPr>
          <a:xfrm>
            <a:off x="-101601" y="-90312"/>
            <a:ext cx="13140267" cy="8568267"/>
          </a:xfrm>
          <a:prstGeom prst="rect">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idx="1" type="body"/>
          </p:nvPr>
        </p:nvSpPr>
        <p:spPr>
          <a:xfrm>
            <a:off x="838200" y="1817681"/>
            <a:ext cx="10515600" cy="4351200"/>
          </a:xfrm>
          <a:prstGeom prst="rect">
            <a:avLst/>
          </a:prstGeom>
          <a:noFill/>
          <a:ln>
            <a:noFill/>
          </a:ln>
        </p:spPr>
        <p:txBody>
          <a:bodyPr anchorCtr="0" anchor="t" bIns="45700" lIns="91425" spcFirstLastPara="1" rIns="91425" wrap="square" tIns="45700">
            <a:normAutofit fontScale="85000"/>
          </a:bodyPr>
          <a:lstStyle/>
          <a:p>
            <a:pPr indent="0" lvl="0" marL="0" rtl="0" algn="ctr">
              <a:lnSpc>
                <a:spcPct val="90000"/>
              </a:lnSpc>
              <a:spcBef>
                <a:spcPts val="0"/>
              </a:spcBef>
              <a:spcAft>
                <a:spcPts val="0"/>
              </a:spcAft>
              <a:buClr>
                <a:schemeClr val="dk1"/>
              </a:buClr>
              <a:buSzPct val="100000"/>
              <a:buNone/>
            </a:pPr>
            <a:r>
              <a:rPr lang="en-US" sz="8800">
                <a:latin typeface="Impact"/>
                <a:ea typeface="Impact"/>
                <a:cs typeface="Impact"/>
                <a:sym typeface="Impact"/>
              </a:rPr>
              <a:t>Neal was </a:t>
            </a:r>
            <a:r>
              <a:rPr lang="en-US" sz="8800">
                <a:latin typeface="Impact"/>
                <a:ea typeface="Impact"/>
                <a:cs typeface="Impact"/>
                <a:sym typeface="Impact"/>
              </a:rPr>
              <a:t>falsely </a:t>
            </a:r>
            <a:r>
              <a:rPr lang="en-US" sz="8800">
                <a:latin typeface="Impact"/>
                <a:ea typeface="Impact"/>
                <a:cs typeface="Impact"/>
                <a:sym typeface="Impact"/>
              </a:rPr>
              <a:t>charged with the murder of Donald Collins</a:t>
            </a:r>
            <a:endParaRPr>
              <a:latin typeface="Impact"/>
              <a:ea typeface="Impact"/>
              <a:cs typeface="Impact"/>
              <a:sym typeface="Impact"/>
            </a:endParaRPr>
          </a:p>
          <a:p>
            <a:pPr indent="0" lvl="0" marL="228600" rtl="0" algn="l">
              <a:lnSpc>
                <a:spcPct val="90000"/>
              </a:lnSpc>
              <a:spcBef>
                <a:spcPts val="1000"/>
              </a:spcBef>
              <a:spcAft>
                <a:spcPts val="0"/>
              </a:spcAft>
              <a:buClr>
                <a:schemeClr val="dk1"/>
              </a:buClr>
              <a:buSzPct val="100000"/>
              <a:buNone/>
            </a:pPr>
            <a:r>
              <a:t/>
            </a:r>
            <a:endParaRPr sz="8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bafe2fdd6_0_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Problem</a:t>
            </a:r>
            <a:endParaRPr>
              <a:latin typeface="Georgia"/>
              <a:ea typeface="Georgia"/>
              <a:cs typeface="Georgia"/>
              <a:sym typeface="Georgia"/>
            </a:endParaRPr>
          </a:p>
        </p:txBody>
      </p:sp>
      <p:sp>
        <p:nvSpPr>
          <p:cNvPr id="112" name="Google Shape;112;g3fbafe2fdd6_0_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Font typeface="Georgia"/>
              <a:buChar char="•"/>
            </a:pPr>
            <a:r>
              <a:rPr lang="en-US">
                <a:latin typeface="Georgia"/>
                <a:ea typeface="Georgia"/>
                <a:cs typeface="Georgia"/>
                <a:sym typeface="Georgia"/>
              </a:rPr>
              <a:t>Suspects are p</a:t>
            </a:r>
            <a:r>
              <a:rPr lang="en-US">
                <a:latin typeface="Georgia"/>
                <a:ea typeface="Georgia"/>
                <a:cs typeface="Georgia"/>
                <a:sym typeface="Georgia"/>
              </a:rPr>
              <a:t>ressure</a:t>
            </a:r>
            <a:r>
              <a:rPr lang="en-US">
                <a:latin typeface="Georgia"/>
                <a:ea typeface="Georgia"/>
                <a:cs typeface="Georgia"/>
                <a:sym typeface="Georgia"/>
              </a:rPr>
              <a:t> to </a:t>
            </a:r>
            <a:r>
              <a:rPr lang="en-US">
                <a:latin typeface="Georgia"/>
                <a:ea typeface="Georgia"/>
                <a:cs typeface="Georgia"/>
                <a:sym typeface="Georgia"/>
              </a:rPr>
              <a:t>admit</a:t>
            </a:r>
            <a:r>
              <a:rPr lang="en-US">
                <a:latin typeface="Georgia"/>
                <a:ea typeface="Georgia"/>
                <a:cs typeface="Georgia"/>
                <a:sym typeface="Georgia"/>
              </a:rPr>
              <a:t> due to biased </a:t>
            </a:r>
            <a:r>
              <a:rPr lang="en-US">
                <a:latin typeface="Georgia"/>
                <a:ea typeface="Georgia"/>
                <a:cs typeface="Georgia"/>
                <a:sym typeface="Georgia"/>
              </a:rPr>
              <a:t>interrogation</a:t>
            </a:r>
            <a:r>
              <a:rPr lang="en-US">
                <a:latin typeface="Georgia"/>
                <a:ea typeface="Georgia"/>
                <a:cs typeface="Georgia"/>
                <a:sym typeface="Georgia"/>
              </a:rPr>
              <a:t> and threats</a:t>
            </a:r>
            <a:endParaRPr>
              <a:latin typeface="Georgia"/>
              <a:ea typeface="Georgia"/>
              <a:cs typeface="Georgia"/>
              <a:sym typeface="Georgia"/>
            </a:endParaRPr>
          </a:p>
          <a:p>
            <a:pPr indent="-342900" lvl="0" marL="457200" rtl="0" algn="l">
              <a:spcBef>
                <a:spcPts val="0"/>
              </a:spcBef>
              <a:spcAft>
                <a:spcPts val="0"/>
              </a:spcAft>
              <a:buSzPts val="1800"/>
              <a:buFont typeface="Georgia"/>
              <a:buChar char="•"/>
            </a:pPr>
            <a:r>
              <a:rPr lang="en-US">
                <a:latin typeface="Georgia"/>
                <a:ea typeface="Georgia"/>
                <a:cs typeface="Georgia"/>
                <a:sym typeface="Georgia"/>
              </a:rPr>
              <a:t>P</a:t>
            </a:r>
            <a:r>
              <a:rPr lang="en-US">
                <a:latin typeface="Georgia"/>
                <a:ea typeface="Georgia"/>
                <a:cs typeface="Georgia"/>
                <a:sym typeface="Georgia"/>
              </a:rPr>
              <a:t>eople’s rights can be violated </a:t>
            </a:r>
            <a:endParaRPr>
              <a:latin typeface="Georgia"/>
              <a:ea typeface="Georgia"/>
              <a:cs typeface="Georgia"/>
              <a:sym typeface="Georgia"/>
            </a:endParaRPr>
          </a:p>
          <a:p>
            <a:pPr indent="-342900" lvl="0" marL="457200" rtl="0" algn="l">
              <a:spcBef>
                <a:spcPts val="0"/>
              </a:spcBef>
              <a:spcAft>
                <a:spcPts val="0"/>
              </a:spcAft>
              <a:buSzPts val="1800"/>
              <a:buFont typeface="Georgia"/>
              <a:buChar char="•"/>
            </a:pPr>
            <a:r>
              <a:rPr lang="en-US">
                <a:latin typeface="Georgia"/>
                <a:ea typeface="Georgia"/>
                <a:cs typeface="Georgia"/>
                <a:sym typeface="Georgia"/>
              </a:rPr>
              <a:t>Without anyone recognizing the problem and intervening in time.</a:t>
            </a:r>
            <a:endParaRPr>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4"/>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18" name="Google Shape;118;p4" title="6d273054ca7525973feadcc51b16f6a6.png"/>
          <p:cNvPicPr preferRelativeResize="0"/>
          <p:nvPr/>
        </p:nvPicPr>
        <p:blipFill>
          <a:blip r:embed="rId3">
            <a:alphaModFix/>
          </a:blip>
          <a:stretch>
            <a:fillRect/>
          </a:stretch>
        </p:blipFill>
        <p:spPr>
          <a:xfrm>
            <a:off x="0" y="143925"/>
            <a:ext cx="9123223" cy="5706326"/>
          </a:xfrm>
          <a:prstGeom prst="rect">
            <a:avLst/>
          </a:prstGeom>
          <a:noFill/>
          <a:ln>
            <a:noFill/>
          </a:ln>
        </p:spPr>
      </p:pic>
      <p:pic>
        <p:nvPicPr>
          <p:cNvPr id="119" name="Google Shape;119;p4" title="1e0ef4c3e31c6835b66faae48c7fbe62.png"/>
          <p:cNvPicPr preferRelativeResize="0"/>
          <p:nvPr/>
        </p:nvPicPr>
        <p:blipFill rotWithShape="1">
          <a:blip r:embed="rId4">
            <a:alphaModFix/>
          </a:blip>
          <a:srcRect b="0" l="15317" r="9895" t="0"/>
          <a:stretch/>
        </p:blipFill>
        <p:spPr>
          <a:xfrm>
            <a:off x="9123225" y="209375"/>
            <a:ext cx="2943725" cy="5248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fbafe2fdd6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Themis</a:t>
            </a:r>
            <a:endParaRPr>
              <a:latin typeface="Georgia"/>
              <a:ea typeface="Georgia"/>
              <a:cs typeface="Georgia"/>
              <a:sym typeface="Georgia"/>
            </a:endParaRPr>
          </a:p>
        </p:txBody>
      </p:sp>
      <p:pic>
        <p:nvPicPr>
          <p:cNvPr id="125" name="Google Shape;125;g3fbafe2fdd6_0_0"/>
          <p:cNvPicPr preferRelativeResize="0"/>
          <p:nvPr/>
        </p:nvPicPr>
        <p:blipFill>
          <a:blip r:embed="rId3">
            <a:alphaModFix/>
          </a:blip>
          <a:stretch>
            <a:fillRect/>
          </a:stretch>
        </p:blipFill>
        <p:spPr>
          <a:xfrm>
            <a:off x="4056413" y="997812"/>
            <a:ext cx="4079174" cy="4862375"/>
          </a:xfrm>
          <a:prstGeom prst="rect">
            <a:avLst/>
          </a:prstGeom>
          <a:noFill/>
          <a:ln>
            <a:noFill/>
          </a:ln>
        </p:spPr>
      </p:pic>
      <p:sp>
        <p:nvSpPr>
          <p:cNvPr id="126" name="Google Shape;126;g3fbafe2fdd6_0_0"/>
          <p:cNvSpPr txBox="1"/>
          <p:nvPr/>
        </p:nvSpPr>
        <p:spPr>
          <a:xfrm>
            <a:off x="546750" y="6138175"/>
            <a:ext cx="110985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Georgia"/>
                <a:ea typeface="Georgia"/>
                <a:cs typeface="Georgia"/>
                <a:sym typeface="Georgia"/>
              </a:rPr>
              <a:t>https://en.wikipedia.org/wiki/Themis</a:t>
            </a:r>
            <a:endParaRPr sz="2800">
              <a:solidFill>
                <a:schemeClr val="dk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1"/>
          <p:cNvSpPr txBox="1"/>
          <p:nvPr>
            <p:ph type="title"/>
          </p:nvPr>
        </p:nvSpPr>
        <p:spPr>
          <a:xfrm>
            <a:off x="838200" y="2766213"/>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latin typeface="Impact"/>
                <a:ea typeface="Impact"/>
                <a:cs typeface="Impact"/>
                <a:sym typeface="Impact"/>
              </a:rPr>
              <a:t>User Interface Live Demonstration</a:t>
            </a:r>
            <a:endParaRPr>
              <a:latin typeface="Impact"/>
              <a:ea typeface="Impact"/>
              <a:cs typeface="Impact"/>
              <a:sym typeface="Impac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fbafe2fdd6_1_0"/>
          <p:cNvSpPr/>
          <p:nvPr/>
        </p:nvSpPr>
        <p:spPr>
          <a:xfrm>
            <a:off x="1055800" y="2510088"/>
            <a:ext cx="1053300" cy="10533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Audio input</a:t>
            </a:r>
            <a:endParaRPr>
              <a:solidFill>
                <a:schemeClr val="lt1"/>
              </a:solidFill>
              <a:latin typeface="Georgia"/>
              <a:ea typeface="Georgia"/>
              <a:cs typeface="Georgia"/>
              <a:sym typeface="Georgia"/>
            </a:endParaRPr>
          </a:p>
        </p:txBody>
      </p:sp>
      <p:sp>
        <p:nvSpPr>
          <p:cNvPr id="137" name="Google Shape;137;g3fbafe2fdd6_1_0"/>
          <p:cNvSpPr/>
          <p:nvPr/>
        </p:nvSpPr>
        <p:spPr>
          <a:xfrm>
            <a:off x="10082900" y="2517138"/>
            <a:ext cx="1053300" cy="10533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Audio Output</a:t>
            </a:r>
            <a:endParaRPr>
              <a:solidFill>
                <a:schemeClr val="lt1"/>
              </a:solidFill>
              <a:latin typeface="Georgia"/>
              <a:ea typeface="Georgia"/>
              <a:cs typeface="Georgia"/>
              <a:sym typeface="Georgia"/>
            </a:endParaRPr>
          </a:p>
        </p:txBody>
      </p:sp>
      <p:sp>
        <p:nvSpPr>
          <p:cNvPr id="138" name="Google Shape;138;g3fbafe2fdd6_1_0"/>
          <p:cNvSpPr/>
          <p:nvPr/>
        </p:nvSpPr>
        <p:spPr>
          <a:xfrm>
            <a:off x="4649400" y="2510088"/>
            <a:ext cx="1420200" cy="10533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Transcribed Text</a:t>
            </a:r>
            <a:endParaRPr>
              <a:solidFill>
                <a:schemeClr val="lt1"/>
              </a:solidFill>
              <a:latin typeface="Georgia"/>
              <a:ea typeface="Georgia"/>
              <a:cs typeface="Georgia"/>
              <a:sym typeface="Georgia"/>
            </a:endParaRPr>
          </a:p>
        </p:txBody>
      </p:sp>
      <p:sp>
        <p:nvSpPr>
          <p:cNvPr id="139" name="Google Shape;139;g3fbafe2fdd6_1_0"/>
          <p:cNvSpPr/>
          <p:nvPr/>
        </p:nvSpPr>
        <p:spPr>
          <a:xfrm>
            <a:off x="6429350" y="3868663"/>
            <a:ext cx="1713000" cy="456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Nemotron</a:t>
            </a:r>
            <a:endParaRPr>
              <a:solidFill>
                <a:schemeClr val="lt1"/>
              </a:solidFill>
              <a:latin typeface="Georgia"/>
              <a:ea typeface="Georgia"/>
              <a:cs typeface="Georgia"/>
              <a:sym typeface="Georgia"/>
            </a:endParaRPr>
          </a:p>
        </p:txBody>
      </p:sp>
      <p:sp>
        <p:nvSpPr>
          <p:cNvPr id="140" name="Google Shape;140;g3fbafe2fdd6_1_0"/>
          <p:cNvSpPr/>
          <p:nvPr/>
        </p:nvSpPr>
        <p:spPr>
          <a:xfrm>
            <a:off x="2684350" y="3846013"/>
            <a:ext cx="1497600" cy="501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ElevenLabs</a:t>
            </a:r>
            <a:endParaRPr>
              <a:solidFill>
                <a:schemeClr val="lt1"/>
              </a:solidFill>
              <a:latin typeface="Georgia"/>
              <a:ea typeface="Georgia"/>
              <a:cs typeface="Georgia"/>
              <a:sym typeface="Georgia"/>
            </a:endParaRPr>
          </a:p>
        </p:txBody>
      </p:sp>
      <p:sp>
        <p:nvSpPr>
          <p:cNvPr id="141" name="Google Shape;141;g3fbafe2fdd6_1_0"/>
          <p:cNvSpPr/>
          <p:nvPr/>
        </p:nvSpPr>
        <p:spPr>
          <a:xfrm>
            <a:off x="6759200" y="2510088"/>
            <a:ext cx="1053300" cy="10533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Analysis for </a:t>
            </a:r>
            <a:r>
              <a:rPr lang="en-US">
                <a:solidFill>
                  <a:schemeClr val="lt1"/>
                </a:solidFill>
                <a:latin typeface="Georgia"/>
                <a:ea typeface="Georgia"/>
                <a:cs typeface="Georgia"/>
                <a:sym typeface="Georgia"/>
              </a:rPr>
              <a:t>violation of right</a:t>
            </a:r>
            <a:endParaRPr>
              <a:solidFill>
                <a:schemeClr val="lt1"/>
              </a:solidFill>
              <a:latin typeface="Georgia"/>
              <a:ea typeface="Georgia"/>
              <a:cs typeface="Georgia"/>
              <a:sym typeface="Georgia"/>
            </a:endParaRPr>
          </a:p>
        </p:txBody>
      </p:sp>
      <p:sp>
        <p:nvSpPr>
          <p:cNvPr id="142" name="Google Shape;142;g3fbafe2fdd6_1_0"/>
          <p:cNvSpPr/>
          <p:nvPr/>
        </p:nvSpPr>
        <p:spPr>
          <a:xfrm>
            <a:off x="2906500" y="2510088"/>
            <a:ext cx="1053300" cy="10533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Speech to Text</a:t>
            </a:r>
            <a:endParaRPr>
              <a:solidFill>
                <a:schemeClr val="lt1"/>
              </a:solidFill>
              <a:latin typeface="Georgia"/>
              <a:ea typeface="Georgia"/>
              <a:cs typeface="Georgia"/>
              <a:sym typeface="Georgia"/>
            </a:endParaRPr>
          </a:p>
        </p:txBody>
      </p:sp>
      <p:sp>
        <p:nvSpPr>
          <p:cNvPr id="143" name="Google Shape;143;g3fbafe2fdd6_1_0"/>
          <p:cNvSpPr/>
          <p:nvPr/>
        </p:nvSpPr>
        <p:spPr>
          <a:xfrm>
            <a:off x="8421050" y="2510688"/>
            <a:ext cx="1053300" cy="10533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Text to Speech</a:t>
            </a:r>
            <a:endParaRPr>
              <a:solidFill>
                <a:schemeClr val="lt1"/>
              </a:solidFill>
              <a:latin typeface="Georgia"/>
              <a:ea typeface="Georgia"/>
              <a:cs typeface="Georgia"/>
              <a:sym typeface="Georgia"/>
            </a:endParaRPr>
          </a:p>
        </p:txBody>
      </p:sp>
      <p:cxnSp>
        <p:nvCxnSpPr>
          <p:cNvPr id="144" name="Google Shape;144;g3fbafe2fdd6_1_0"/>
          <p:cNvCxnSpPr>
            <a:endCxn id="142" idx="1"/>
          </p:cNvCxnSpPr>
          <p:nvPr/>
        </p:nvCxnSpPr>
        <p:spPr>
          <a:xfrm flipH="1" rot="10800000">
            <a:off x="2132500" y="3036738"/>
            <a:ext cx="774000" cy="1200"/>
          </a:xfrm>
          <a:prstGeom prst="straightConnector1">
            <a:avLst/>
          </a:prstGeom>
          <a:noFill/>
          <a:ln cap="flat" cmpd="sng" w="9525">
            <a:solidFill>
              <a:schemeClr val="dk2"/>
            </a:solidFill>
            <a:prstDash val="solid"/>
            <a:round/>
            <a:headEnd len="med" w="med" type="none"/>
            <a:tailEnd len="med" w="med" type="triangle"/>
          </a:ln>
        </p:spPr>
      </p:cxnSp>
      <p:cxnSp>
        <p:nvCxnSpPr>
          <p:cNvPr id="145" name="Google Shape;145;g3fbafe2fdd6_1_0"/>
          <p:cNvCxnSpPr>
            <a:stCxn id="142" idx="3"/>
            <a:endCxn id="138" idx="1"/>
          </p:cNvCxnSpPr>
          <p:nvPr/>
        </p:nvCxnSpPr>
        <p:spPr>
          <a:xfrm>
            <a:off x="3959800" y="3036738"/>
            <a:ext cx="689700" cy="0"/>
          </a:xfrm>
          <a:prstGeom prst="straightConnector1">
            <a:avLst/>
          </a:prstGeom>
          <a:noFill/>
          <a:ln cap="flat" cmpd="sng" w="9525">
            <a:solidFill>
              <a:schemeClr val="dk2"/>
            </a:solidFill>
            <a:prstDash val="solid"/>
            <a:round/>
            <a:headEnd len="med" w="med" type="none"/>
            <a:tailEnd len="med" w="med" type="triangle"/>
          </a:ln>
        </p:spPr>
      </p:cxnSp>
      <p:cxnSp>
        <p:nvCxnSpPr>
          <p:cNvPr id="146" name="Google Shape;146;g3fbafe2fdd6_1_0"/>
          <p:cNvCxnSpPr>
            <a:stCxn id="138" idx="3"/>
            <a:endCxn id="141" idx="1"/>
          </p:cNvCxnSpPr>
          <p:nvPr/>
        </p:nvCxnSpPr>
        <p:spPr>
          <a:xfrm>
            <a:off x="6069600" y="3036738"/>
            <a:ext cx="689700" cy="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g3fbafe2fdd6_1_0"/>
          <p:cNvCxnSpPr>
            <a:stCxn id="141" idx="3"/>
            <a:endCxn id="143" idx="1"/>
          </p:cNvCxnSpPr>
          <p:nvPr/>
        </p:nvCxnSpPr>
        <p:spPr>
          <a:xfrm>
            <a:off x="7812500" y="3036738"/>
            <a:ext cx="608700" cy="60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g3fbafe2fdd6_1_0"/>
          <p:cNvCxnSpPr>
            <a:stCxn id="143" idx="3"/>
            <a:endCxn id="137" idx="1"/>
          </p:cNvCxnSpPr>
          <p:nvPr/>
        </p:nvCxnSpPr>
        <p:spPr>
          <a:xfrm>
            <a:off x="9474350" y="3037338"/>
            <a:ext cx="608700" cy="6600"/>
          </a:xfrm>
          <a:prstGeom prst="straightConnector1">
            <a:avLst/>
          </a:prstGeom>
          <a:noFill/>
          <a:ln cap="flat" cmpd="sng" w="9525">
            <a:solidFill>
              <a:schemeClr val="dk2"/>
            </a:solidFill>
            <a:prstDash val="solid"/>
            <a:round/>
            <a:headEnd len="med" w="med" type="none"/>
            <a:tailEnd len="med" w="med" type="triangle"/>
          </a:ln>
        </p:spPr>
      </p:cxnSp>
      <p:sp>
        <p:nvSpPr>
          <p:cNvPr id="149" name="Google Shape;149;g3fbafe2fdd6_1_0"/>
          <p:cNvSpPr/>
          <p:nvPr/>
        </p:nvSpPr>
        <p:spPr>
          <a:xfrm>
            <a:off x="8198900" y="3846013"/>
            <a:ext cx="1497600" cy="501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ElevenLabs</a:t>
            </a:r>
            <a:endParaRPr>
              <a:solidFill>
                <a:schemeClr val="lt1"/>
              </a:solidFill>
              <a:latin typeface="Georgia"/>
              <a:ea typeface="Georgia"/>
              <a:cs typeface="Georgia"/>
              <a:sym typeface="Georgia"/>
            </a:endParaRPr>
          </a:p>
        </p:txBody>
      </p:sp>
      <p:cxnSp>
        <p:nvCxnSpPr>
          <p:cNvPr id="150" name="Google Shape;150;g3fbafe2fdd6_1_0"/>
          <p:cNvCxnSpPr>
            <a:stCxn id="142" idx="2"/>
            <a:endCxn id="140" idx="0"/>
          </p:cNvCxnSpPr>
          <p:nvPr/>
        </p:nvCxnSpPr>
        <p:spPr>
          <a:xfrm>
            <a:off x="3433150" y="3563388"/>
            <a:ext cx="0" cy="28260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g3fbafe2fdd6_1_0"/>
          <p:cNvCxnSpPr>
            <a:stCxn id="141" idx="2"/>
            <a:endCxn id="139" idx="0"/>
          </p:cNvCxnSpPr>
          <p:nvPr/>
        </p:nvCxnSpPr>
        <p:spPr>
          <a:xfrm>
            <a:off x="7285850" y="3563388"/>
            <a:ext cx="0" cy="305400"/>
          </a:xfrm>
          <a:prstGeom prst="straightConnector1">
            <a:avLst/>
          </a:prstGeom>
          <a:noFill/>
          <a:ln cap="flat" cmpd="sng" w="9525">
            <a:solidFill>
              <a:schemeClr val="dk2"/>
            </a:solidFill>
            <a:prstDash val="solid"/>
            <a:round/>
            <a:headEnd len="med" w="med" type="none"/>
            <a:tailEnd len="med" w="med" type="none"/>
          </a:ln>
        </p:spPr>
      </p:cxnSp>
      <p:cxnSp>
        <p:nvCxnSpPr>
          <p:cNvPr id="152" name="Google Shape;152;g3fbafe2fdd6_1_0"/>
          <p:cNvCxnSpPr>
            <a:stCxn id="143" idx="2"/>
            <a:endCxn id="149" idx="0"/>
          </p:cNvCxnSpPr>
          <p:nvPr/>
        </p:nvCxnSpPr>
        <p:spPr>
          <a:xfrm>
            <a:off x="8947700" y="3563988"/>
            <a:ext cx="0" cy="282000"/>
          </a:xfrm>
          <a:prstGeom prst="straightConnector1">
            <a:avLst/>
          </a:prstGeom>
          <a:noFill/>
          <a:ln cap="flat" cmpd="sng" w="9525">
            <a:solidFill>
              <a:schemeClr val="dk2"/>
            </a:solidFill>
            <a:prstDash val="solid"/>
            <a:round/>
            <a:headEnd len="med" w="med" type="none"/>
            <a:tailEnd len="med" w="med" type="none"/>
          </a:ln>
        </p:spPr>
      </p:cxnSp>
      <p:sp>
        <p:nvSpPr>
          <p:cNvPr id="153" name="Google Shape;153;g3fbafe2fdd6_1_0"/>
          <p:cNvSpPr txBox="1"/>
          <p:nvPr>
            <p:ph idx="4294967295"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Live Interrogation Monitor</a:t>
            </a:r>
            <a:endParaRPr>
              <a:latin typeface="Georgia"/>
              <a:ea typeface="Georgia"/>
              <a:cs typeface="Georgia"/>
              <a:sym typeface="Georgia"/>
            </a:endParaRPr>
          </a:p>
        </p:txBody>
      </p:sp>
      <p:sp>
        <p:nvSpPr>
          <p:cNvPr id="154" name="Google Shape;154;g3fbafe2fdd6_1_0"/>
          <p:cNvSpPr/>
          <p:nvPr/>
        </p:nvSpPr>
        <p:spPr>
          <a:xfrm>
            <a:off x="725950" y="1690825"/>
            <a:ext cx="1713000" cy="501900"/>
          </a:xfrm>
          <a:prstGeom prst="roundRect">
            <a:avLst>
              <a:gd fmla="val 16667" name="adj"/>
            </a:avLst>
          </a:prstGeom>
          <a:solidFill>
            <a:srgbClr val="A61C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Recording Starts</a:t>
            </a:r>
            <a:endParaRPr>
              <a:solidFill>
                <a:schemeClr val="lt1"/>
              </a:solidFill>
              <a:latin typeface="Georgia"/>
              <a:ea typeface="Georgia"/>
              <a:cs typeface="Georgia"/>
              <a:sym typeface="Georgia"/>
            </a:endParaRPr>
          </a:p>
        </p:txBody>
      </p:sp>
      <p:sp>
        <p:nvSpPr>
          <p:cNvPr id="155" name="Google Shape;155;g3fbafe2fdd6_1_0"/>
          <p:cNvSpPr/>
          <p:nvPr/>
        </p:nvSpPr>
        <p:spPr>
          <a:xfrm>
            <a:off x="9753050" y="4641450"/>
            <a:ext cx="1713000" cy="501900"/>
          </a:xfrm>
          <a:prstGeom prst="roundRect">
            <a:avLst>
              <a:gd fmla="val 16667" name="adj"/>
            </a:avLst>
          </a:prstGeom>
          <a:solidFill>
            <a:srgbClr val="A61C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Recording Ends</a:t>
            </a:r>
            <a:endParaRPr>
              <a:solidFill>
                <a:schemeClr val="lt1"/>
              </a:solidFill>
              <a:latin typeface="Georgia"/>
              <a:ea typeface="Georgia"/>
              <a:cs typeface="Georgia"/>
              <a:sym typeface="Georgia"/>
            </a:endParaRPr>
          </a:p>
        </p:txBody>
      </p:sp>
      <p:sp>
        <p:nvSpPr>
          <p:cNvPr id="156" name="Google Shape;156;g3fbafe2fdd6_1_0"/>
          <p:cNvSpPr/>
          <p:nvPr/>
        </p:nvSpPr>
        <p:spPr>
          <a:xfrm>
            <a:off x="9753050" y="5597600"/>
            <a:ext cx="1713000" cy="501900"/>
          </a:xfrm>
          <a:prstGeom prst="roundRect">
            <a:avLst>
              <a:gd fmla="val 16667" name="adj"/>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Georgia"/>
                <a:ea typeface="Georgia"/>
                <a:cs typeface="Georgia"/>
                <a:sym typeface="Georgia"/>
              </a:rPr>
              <a:t>Saves session to archives</a:t>
            </a:r>
            <a:endParaRPr>
              <a:solidFill>
                <a:schemeClr val="lt1"/>
              </a:solidFill>
              <a:latin typeface="Georgia"/>
              <a:ea typeface="Georgia"/>
              <a:cs typeface="Georgia"/>
              <a:sym typeface="Georgia"/>
            </a:endParaRPr>
          </a:p>
        </p:txBody>
      </p:sp>
      <p:cxnSp>
        <p:nvCxnSpPr>
          <p:cNvPr id="157" name="Google Shape;157;g3fbafe2fdd6_1_0"/>
          <p:cNvCxnSpPr>
            <a:stCxn id="136" idx="0"/>
            <a:endCxn id="154" idx="2"/>
          </p:cNvCxnSpPr>
          <p:nvPr/>
        </p:nvCxnSpPr>
        <p:spPr>
          <a:xfrm rot="10800000">
            <a:off x="1582450" y="2192688"/>
            <a:ext cx="0" cy="317400"/>
          </a:xfrm>
          <a:prstGeom prst="straightConnector1">
            <a:avLst/>
          </a:prstGeom>
          <a:noFill/>
          <a:ln cap="flat" cmpd="sng" w="9525">
            <a:solidFill>
              <a:schemeClr val="dk2"/>
            </a:solidFill>
            <a:prstDash val="solid"/>
            <a:round/>
            <a:headEnd len="med" w="med" type="triangle"/>
            <a:tailEnd len="med" w="med" type="none"/>
          </a:ln>
        </p:spPr>
      </p:cxnSp>
      <p:cxnSp>
        <p:nvCxnSpPr>
          <p:cNvPr id="158" name="Google Shape;158;g3fbafe2fdd6_1_0"/>
          <p:cNvCxnSpPr>
            <a:stCxn id="137" idx="2"/>
            <a:endCxn id="155" idx="0"/>
          </p:cNvCxnSpPr>
          <p:nvPr/>
        </p:nvCxnSpPr>
        <p:spPr>
          <a:xfrm>
            <a:off x="10609550" y="3570438"/>
            <a:ext cx="0" cy="1071000"/>
          </a:xfrm>
          <a:prstGeom prst="straightConnector1">
            <a:avLst/>
          </a:prstGeom>
          <a:noFill/>
          <a:ln cap="flat" cmpd="sng" w="9525">
            <a:solidFill>
              <a:schemeClr val="dk2"/>
            </a:solidFill>
            <a:prstDash val="solid"/>
            <a:round/>
            <a:headEnd len="med" w="med" type="none"/>
            <a:tailEnd len="med" w="med" type="triangle"/>
          </a:ln>
        </p:spPr>
      </p:cxnSp>
      <p:cxnSp>
        <p:nvCxnSpPr>
          <p:cNvPr id="159" name="Google Shape;159;g3fbafe2fdd6_1_0"/>
          <p:cNvCxnSpPr>
            <a:stCxn id="155" idx="2"/>
            <a:endCxn id="156" idx="0"/>
          </p:cNvCxnSpPr>
          <p:nvPr/>
        </p:nvCxnSpPr>
        <p:spPr>
          <a:xfrm>
            <a:off x="10609550" y="5143350"/>
            <a:ext cx="0" cy="454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g3fbafe2fdd6_0_41"/>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65" name="Google Shape;165;g3fbafe2fdd6_0_41" title="ChatGPT Image Sep 19, 2026, 07_47_59 PM.png"/>
          <p:cNvPicPr preferRelativeResize="0"/>
          <p:nvPr/>
        </p:nvPicPr>
        <p:blipFill>
          <a:blip r:embed="rId3">
            <a:alphaModFix/>
          </a:blip>
          <a:stretch>
            <a:fillRect/>
          </a:stretch>
        </p:blipFill>
        <p:spPr>
          <a:xfrm>
            <a:off x="-59250" y="0"/>
            <a:ext cx="12544999" cy="7060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fbafe2fdd6_0_1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Reason for implementation</a:t>
            </a:r>
            <a:endParaRPr>
              <a:latin typeface="Georgia"/>
              <a:ea typeface="Georgia"/>
              <a:cs typeface="Georgia"/>
              <a:sym typeface="Georgia"/>
            </a:endParaRPr>
          </a:p>
        </p:txBody>
      </p:sp>
      <p:sp>
        <p:nvSpPr>
          <p:cNvPr id="171" name="Google Shape;171;g3fbafe2fdd6_0_1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Font typeface="Georgia"/>
              <a:buChar char="•"/>
            </a:pPr>
            <a:r>
              <a:rPr lang="en-US">
                <a:latin typeface="Georgia"/>
                <a:ea typeface="Georgia"/>
                <a:cs typeface="Georgia"/>
                <a:sym typeface="Georgia"/>
              </a:rPr>
              <a:t>Higher accountability &amp; credibility for police departments</a:t>
            </a:r>
            <a:endParaRPr>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latin typeface="Georgia"/>
                <a:ea typeface="Georgia"/>
                <a:cs typeface="Georgia"/>
                <a:sym typeface="Georgia"/>
              </a:rPr>
              <a:t>Voice</a:t>
            </a:r>
            <a:endParaRPr>
              <a:latin typeface="Georgia"/>
              <a:ea typeface="Georgia"/>
              <a:cs typeface="Georgia"/>
              <a:sym typeface="Georgia"/>
            </a:endParaRPr>
          </a:p>
        </p:txBody>
      </p:sp>
      <p:sp>
        <p:nvSpPr>
          <p:cNvPr id="177" name="Google Shape;177;p9"/>
          <p:cNvSpPr txBox="1"/>
          <p:nvPr>
            <p:ph idx="1" type="body"/>
          </p:nvPr>
        </p:nvSpPr>
        <p:spPr>
          <a:xfrm>
            <a:off x="838200" y="1927225"/>
            <a:ext cx="4140200" cy="79339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Georgia"/>
                <a:ea typeface="Georgia"/>
                <a:cs typeface="Georgia"/>
                <a:sym typeface="Georgia"/>
              </a:rPr>
              <a:t>ElevenLabs Scribe v2</a:t>
            </a:r>
            <a:endParaRPr>
              <a:latin typeface="Georgia"/>
              <a:ea typeface="Georgia"/>
              <a:cs typeface="Georgia"/>
              <a:sym typeface="Georgia"/>
            </a:endParaRPr>
          </a:p>
        </p:txBody>
      </p:sp>
      <p:sp>
        <p:nvSpPr>
          <p:cNvPr id="178" name="Google Shape;178;p9"/>
          <p:cNvSpPr txBox="1"/>
          <p:nvPr/>
        </p:nvSpPr>
        <p:spPr>
          <a:xfrm>
            <a:off x="7213595" y="1927225"/>
            <a:ext cx="4140300" cy="793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i="0" lang="en-US" sz="2800" u="none" cap="none" strike="noStrike">
                <a:solidFill>
                  <a:schemeClr val="dk1"/>
                </a:solidFill>
                <a:latin typeface="Georgia"/>
                <a:ea typeface="Georgia"/>
                <a:cs typeface="Georgia"/>
                <a:sym typeface="Georgia"/>
              </a:rPr>
              <a:t>Eleven Flash v2.5</a:t>
            </a:r>
            <a:endParaRPr>
              <a:latin typeface="Georgia"/>
              <a:ea typeface="Georgia"/>
              <a:cs typeface="Georgia"/>
              <a:sym typeface="Georgia"/>
            </a:endParaRPr>
          </a:p>
        </p:txBody>
      </p:sp>
      <p:pic>
        <p:nvPicPr>
          <p:cNvPr descr="ElevenLabs logo" id="179" name="Google Shape;179;p9"/>
          <p:cNvPicPr preferRelativeResize="0"/>
          <p:nvPr/>
        </p:nvPicPr>
        <p:blipFill rotWithShape="1">
          <a:blip r:embed="rId3">
            <a:alphaModFix/>
          </a:blip>
          <a:srcRect b="0" l="0" r="0" t="0"/>
          <a:stretch/>
        </p:blipFill>
        <p:spPr>
          <a:xfrm>
            <a:off x="2209800" y="2116524"/>
            <a:ext cx="7772400" cy="4376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latin typeface="Georgia"/>
                <a:ea typeface="Georgia"/>
                <a:cs typeface="Georgia"/>
                <a:sym typeface="Georgia"/>
              </a:rPr>
              <a:t>Reasoning</a:t>
            </a:r>
            <a:endParaRPr>
              <a:latin typeface="Georgia"/>
              <a:ea typeface="Georgia"/>
              <a:cs typeface="Georgia"/>
              <a:sym typeface="Georgia"/>
            </a:endParaRPr>
          </a:p>
        </p:txBody>
      </p:sp>
      <p:sp>
        <p:nvSpPr>
          <p:cNvPr id="185" name="Google Shape;185;p10"/>
          <p:cNvSpPr txBox="1"/>
          <p:nvPr>
            <p:ph idx="1" type="body"/>
          </p:nvPr>
        </p:nvSpPr>
        <p:spPr>
          <a:xfrm>
            <a:off x="838199" y="5133570"/>
            <a:ext cx="105156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None/>
            </a:pPr>
            <a:r>
              <a:rPr lang="en-US" sz="4000">
                <a:latin typeface="Georgia"/>
                <a:ea typeface="Georgia"/>
                <a:cs typeface="Georgia"/>
                <a:sym typeface="Georgia"/>
              </a:rPr>
              <a:t>NVIDIA Nemotron 3.5 Lightning</a:t>
            </a:r>
            <a:endParaRPr>
              <a:latin typeface="Georgia"/>
              <a:ea typeface="Georgia"/>
              <a:cs typeface="Georgia"/>
              <a:sym typeface="Georgia"/>
            </a:endParaRPr>
          </a:p>
        </p:txBody>
      </p:sp>
      <p:pic>
        <p:nvPicPr>
          <p:cNvPr descr="NVIDIA Logo" id="186" name="Google Shape;186;p10"/>
          <p:cNvPicPr preferRelativeResize="0"/>
          <p:nvPr/>
        </p:nvPicPr>
        <p:blipFill rotWithShape="1">
          <a:blip r:embed="rId3">
            <a:alphaModFix/>
          </a:blip>
          <a:srcRect b="0" l="0" r="0" t="0"/>
          <a:stretch/>
        </p:blipFill>
        <p:spPr>
          <a:xfrm>
            <a:off x="3512335" y="1465656"/>
            <a:ext cx="5167329" cy="34428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fbafe2fdd6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Limitation</a:t>
            </a:r>
            <a:endParaRPr>
              <a:latin typeface="Georgia"/>
              <a:ea typeface="Georgia"/>
              <a:cs typeface="Georgia"/>
              <a:sym typeface="Georgia"/>
            </a:endParaRPr>
          </a:p>
        </p:txBody>
      </p:sp>
      <p:sp>
        <p:nvSpPr>
          <p:cNvPr id="192" name="Google Shape;192;g3fbafe2fdd6_0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Font typeface="Georgia"/>
              <a:buChar char="•"/>
            </a:pPr>
            <a:r>
              <a:rPr lang="en-US">
                <a:latin typeface="Georgia"/>
                <a:ea typeface="Georgia"/>
                <a:cs typeface="Georgia"/>
                <a:sym typeface="Georgia"/>
              </a:rPr>
              <a:t>Accuracy -&gt; human decision</a:t>
            </a:r>
            <a:endParaRPr>
              <a:latin typeface="Georgia"/>
              <a:ea typeface="Georgia"/>
              <a:cs typeface="Georgia"/>
              <a:sym typeface="Georgia"/>
            </a:endParaRPr>
          </a:p>
          <a:p>
            <a:pPr indent="-342900" lvl="0" marL="457200" rtl="0" algn="l">
              <a:spcBef>
                <a:spcPts val="0"/>
              </a:spcBef>
              <a:spcAft>
                <a:spcPts val="0"/>
              </a:spcAft>
              <a:buSzPts val="1800"/>
              <a:buFont typeface="Georgia"/>
              <a:buChar char="•"/>
            </a:pPr>
            <a:r>
              <a:rPr lang="en-US">
                <a:latin typeface="Georgia"/>
                <a:ea typeface="Georgia"/>
                <a:cs typeface="Georgia"/>
                <a:sym typeface="Georgia"/>
              </a:rPr>
              <a:t>Sensitive information</a:t>
            </a:r>
            <a:endParaRPr>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fbb43b2cfb_0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What did we learn?</a:t>
            </a:r>
            <a:endParaRPr>
              <a:latin typeface="Georgia"/>
              <a:ea typeface="Georgia"/>
              <a:cs typeface="Georgia"/>
              <a:sym typeface="Georgia"/>
            </a:endParaRPr>
          </a:p>
        </p:txBody>
      </p:sp>
      <p:sp>
        <p:nvSpPr>
          <p:cNvPr id="198" name="Google Shape;198;g3fbb43b2cfb_0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Font typeface="Georgia"/>
              <a:buChar char="•"/>
            </a:pPr>
            <a:r>
              <a:rPr lang="en-US">
                <a:latin typeface="Georgia"/>
                <a:ea typeface="Georgia"/>
                <a:cs typeface="Georgia"/>
                <a:sym typeface="Georgia"/>
              </a:rPr>
              <a:t>Vibe Coding</a:t>
            </a:r>
            <a:endParaRPr>
              <a:latin typeface="Georgia"/>
              <a:ea typeface="Georgia"/>
              <a:cs typeface="Georgia"/>
              <a:sym typeface="Georgia"/>
            </a:endParaRPr>
          </a:p>
          <a:p>
            <a:pPr indent="-342900" lvl="0" marL="457200" rtl="0" algn="l">
              <a:spcBef>
                <a:spcPts val="0"/>
              </a:spcBef>
              <a:spcAft>
                <a:spcPts val="0"/>
              </a:spcAft>
              <a:buSzPts val="1800"/>
              <a:buFont typeface="Georgia"/>
              <a:buChar char="•"/>
            </a:pPr>
            <a:r>
              <a:rPr lang="en-US">
                <a:latin typeface="Georgia"/>
                <a:ea typeface="Georgia"/>
                <a:cs typeface="Georgia"/>
                <a:sym typeface="Georgia"/>
              </a:rPr>
              <a:t>Collaboration through GitHub</a:t>
            </a:r>
            <a:endParaRPr>
              <a:latin typeface="Georgia"/>
              <a:ea typeface="Georgia"/>
              <a:cs typeface="Georgia"/>
              <a:sym typeface="Georgia"/>
            </a:endParaRPr>
          </a:p>
          <a:p>
            <a:pPr indent="-342900" lvl="0" marL="457200" rtl="0" algn="l">
              <a:spcBef>
                <a:spcPts val="0"/>
              </a:spcBef>
              <a:spcAft>
                <a:spcPts val="0"/>
              </a:spcAft>
              <a:buSzPts val="1800"/>
              <a:buFont typeface="Georgia"/>
              <a:buChar char="•"/>
            </a:pPr>
            <a:r>
              <a:rPr lang="en-US">
                <a:latin typeface="Georgia"/>
                <a:ea typeface="Georgia"/>
                <a:cs typeface="Georgia"/>
                <a:sym typeface="Georgia"/>
              </a:rPr>
              <a:t>Developing and testing a usable product</a:t>
            </a:r>
            <a:endParaRPr>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fbafe2fdd6_0_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Georgia"/>
                <a:ea typeface="Georgia"/>
                <a:cs typeface="Georgia"/>
                <a:sym typeface="Georgia"/>
              </a:rPr>
              <a:t>Credit</a:t>
            </a:r>
            <a:endParaRPr>
              <a:latin typeface="Georgia"/>
              <a:ea typeface="Georgia"/>
              <a:cs typeface="Georgia"/>
              <a:sym typeface="Georgia"/>
            </a:endParaRPr>
          </a:p>
        </p:txBody>
      </p:sp>
      <p:sp>
        <p:nvSpPr>
          <p:cNvPr id="204" name="Google Shape;204;g3fbafe2fdd6_0_3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Font typeface="Georgia"/>
              <a:buChar char="•"/>
            </a:pPr>
            <a:r>
              <a:rPr lang="en-US">
                <a:latin typeface="Georgia"/>
                <a:ea typeface="Georgia"/>
                <a:cs typeface="Georgia"/>
                <a:sym typeface="Georgia"/>
              </a:rPr>
              <a:t>Codex and Cursor for </a:t>
            </a:r>
            <a:r>
              <a:rPr lang="en-US">
                <a:latin typeface="Georgia"/>
                <a:ea typeface="Georgia"/>
                <a:cs typeface="Georgia"/>
                <a:sym typeface="Georgia"/>
              </a:rPr>
              <a:t>implementing</a:t>
            </a:r>
            <a:r>
              <a:rPr lang="en-US">
                <a:latin typeface="Georgia"/>
                <a:ea typeface="Georgia"/>
                <a:cs typeface="Georgia"/>
                <a:sym typeface="Georgia"/>
              </a:rPr>
              <a:t> the detailed plan and frameworks we decided</a:t>
            </a:r>
            <a:endParaRPr>
              <a:latin typeface="Georgia"/>
              <a:ea typeface="Georgia"/>
              <a:cs typeface="Georgia"/>
              <a:sym typeface="Georgia"/>
            </a:endParaRPr>
          </a:p>
          <a:p>
            <a:pPr indent="-342900" lvl="0" marL="457200" rtl="0" algn="l">
              <a:spcBef>
                <a:spcPts val="0"/>
              </a:spcBef>
              <a:spcAft>
                <a:spcPts val="0"/>
              </a:spcAft>
              <a:buSzPts val="1800"/>
              <a:buFont typeface="Georgia"/>
              <a:buChar char="•"/>
            </a:pPr>
            <a:r>
              <a:rPr lang="en-US">
                <a:latin typeface="Georgia"/>
                <a:ea typeface="Georgia"/>
                <a:cs typeface="Georgia"/>
                <a:sym typeface="Georgia"/>
              </a:rPr>
              <a:t>ChatGPT image for creating the scenes</a:t>
            </a:r>
            <a:endParaRPr>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g3fbafe2fdd6_0_49"/>
          <p:cNvSpPr/>
          <p:nvPr/>
        </p:nvSpPr>
        <p:spPr>
          <a:xfrm>
            <a:off x="1524" y="0"/>
            <a:ext cx="12189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10" name="Google Shape;210;g3fbafe2fdd6_0_49" title="ChatGPT Image Sep 19, 2026, 07_47_59 PM.png"/>
          <p:cNvPicPr preferRelativeResize="0"/>
          <p:nvPr/>
        </p:nvPicPr>
        <p:blipFill>
          <a:blip r:embed="rId3">
            <a:alphaModFix/>
          </a:blip>
          <a:stretch>
            <a:fillRect/>
          </a:stretch>
        </p:blipFill>
        <p:spPr>
          <a:xfrm>
            <a:off x="-59250" y="0"/>
            <a:ext cx="12544999" cy="7060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2026-09-19T18:47:43Z</dcterms:created>
  <dc:creator>Tim Wang</dc:creator>
</cp:coreProperties>
</file>